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75495b6-caa0-972c-1663-9f22444a45ba}">
          <p14:sldIdLst>
            <p14:sldId id="256"/>
          </p14:sldIdLst>
        </p14:section>
        <p14:section name="Problem and users" id="{11922e31-57b2-f816-7672-8bf8ee47fd6e}">
          <p14:sldIdLst>
            <p14:sldId id="257"/>
            <p14:sldId id="258"/>
          </p14:sldIdLst>
        </p14:section>
        <p14:section name="Solution" id="{0611d4da-df48-d559-c320-9910d22a6434}">
          <p14:sldIdLst>
            <p14:sldId id="259"/>
            <p14:sldId id="260"/>
            <p14:sldId id="261"/>
            <p14:sldId id="262"/>
          </p14:sldIdLst>
        </p14:section>
        <p14:section name="Impact and model" id="{3ace77c2-62ce-889e-c051-85e52f7d468c}">
          <p14:sldIdLst>
            <p14:sldId id="263"/>
            <p14:sldId id="264"/>
          </p14:sldIdLst>
        </p14:section>
        <p14:section name="Delivery" id="{800042ce-72cd-3aa9-a61a-3d851480e26d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PayVault lets market traders get paid with no network, and turns every settled sale into credit history their bank can lend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V 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237744" cy="2468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96696" y="6272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PAYVAULT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V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237744" cy="2468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96696" y="6272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PAYVAULT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V 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 descr="/home/user/Pulse/public/photos/trad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502920" cy="521208"/>
          </a:xfrm>
          <a:prstGeom prst="rect">
            <a:avLst/>
          </a:prstGeom>
        </p:spPr>
      </p:pic>
      <p:sp>
        <p:nvSpPr>
          <p:cNvPr id="4" name="wordmark"/>
          <p:cNvSpPr txBox="1"/>
          <p:nvPr/>
        </p:nvSpPr>
        <p:spPr>
          <a:xfrm>
            <a:off x="1325880" y="603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2200" dirty="0"/>
          </a:p>
        </p:txBody>
      </p:sp>
      <p:sp>
        <p:nvSpPr>
          <p:cNvPr id="5" name="track"/>
          <p:cNvSpPr txBox="1"/>
          <p:nvPr/>
        </p:nvSpPr>
        <p:spPr>
          <a:xfrm>
            <a:off x="685800" y="2468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SMART SME FINANCING AND GROWTH PLATFORM</a:t>
            </a:r>
            <a:endParaRPr lang="en-US" sz="1300" dirty="0"/>
          </a:p>
        </p:txBody>
      </p:sp>
      <p:sp>
        <p:nvSpPr>
          <p:cNvPr id="6" name="headline"/>
          <p:cNvSpPr txBox="1"/>
          <p:nvPr/>
        </p:nvSpPr>
        <p:spPr>
          <a:xfrm>
            <a:off x="685800" y="283464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signal.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paid.</a:t>
            </a:r>
            <a:endParaRPr lang="en-US" sz="6000" dirty="0"/>
          </a:p>
        </p:txBody>
      </p:sp>
      <p:sp>
        <p:nvSpPr>
          <p:cNvPr id="7" name="subhead"/>
          <p:cNvSpPr txBox="1"/>
          <p:nvPr/>
        </p:nvSpPr>
        <p:spPr>
          <a:xfrm>
            <a:off x="685800" y="4846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Offline payments that turn a market trader's daily sales into the credit history a bank can lend against.</a:t>
            </a:r>
            <a:endParaRPr lang="en-US" sz="1800" dirty="0"/>
          </a:p>
        </p:txBody>
      </p:sp>
      <p:sp>
        <p:nvSpPr>
          <p:cNvPr id="8" name="demo"/>
          <p:cNvSpPr txBox="1"/>
          <p:nvPr/>
        </p:nvSpPr>
        <p:spPr>
          <a:xfrm>
            <a:off x="68580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Live demo: payvault.rumptycloud.app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blem-photo" descr="/home/user/Pulse/public/photos/st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Africa's traders are creditworthy but invisible</a:t>
            </a:r>
            <a:endParaRPr lang="en-US" sz="3600" dirty="0"/>
          </a:p>
        </p:txBody>
      </p:sp>
      <p:sp>
        <p:nvSpPr>
          <p:cNvPr id="5" name="dot-1"/>
          <p:cNvSpPr/>
          <p:nvPr/>
        </p:nvSpPr>
        <p:spPr>
          <a:xfrm>
            <a:off x="685800" y="240487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roblem-2"/>
          <p:cNvSpPr txBox="1"/>
          <p:nvPr/>
        </p:nvSpPr>
        <p:spPr>
          <a:xfrm>
            <a:off x="1051560" y="23317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Payments stop when the signal stops.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In markets with weak networks, transfers fail, so sales fall back to cash.</a:t>
            </a:r>
            <a:endParaRPr lang="en-US" sz="1600" dirty="0"/>
          </a:p>
        </p:txBody>
      </p:sp>
      <p:sp>
        <p:nvSpPr>
          <p:cNvPr id="7" name="dot-3"/>
          <p:cNvSpPr/>
          <p:nvPr/>
        </p:nvSpPr>
        <p:spPr>
          <a:xfrm>
            <a:off x="685800" y="331927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blem-4"/>
          <p:cNvSpPr txBox="1"/>
          <p:nvPr/>
        </p:nvSpPr>
        <p:spPr>
          <a:xfrm>
            <a:off x="1051560" y="32461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Cash leaves no record.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Banks can't see a trader's real income, however steady it is.</a:t>
            </a:r>
            <a:endParaRPr lang="en-US" sz="1600" dirty="0"/>
          </a:p>
        </p:txBody>
      </p:sp>
      <p:sp>
        <p:nvSpPr>
          <p:cNvPr id="9" name="dot-5"/>
          <p:cNvSpPr/>
          <p:nvPr/>
        </p:nvSpPr>
        <p:spPr>
          <a:xfrm>
            <a:off x="685800" y="423367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blem-6"/>
          <p:cNvSpPr txBox="1"/>
          <p:nvPr/>
        </p:nvSpPr>
        <p:spPr>
          <a:xfrm>
            <a:off x="1051560" y="41605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record, no credit.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Women-led micro-businesses are refused loans or pushed to costly informal lenders.</a:t>
            </a:r>
            <a:endParaRPr lang="en-US" sz="1600" dirty="0"/>
          </a:p>
        </p:txBody>
      </p:sp>
      <p:sp>
        <p:nvSpPr>
          <p:cNvPr id="11" name="dot-7"/>
          <p:cNvSpPr/>
          <p:nvPr/>
        </p:nvSpPr>
        <p:spPr>
          <a:xfrm>
            <a:off x="685800" y="514807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roblem-8"/>
          <p:cNvSpPr txBox="1"/>
          <p:nvPr/>
        </p:nvSpPr>
        <p:spPr>
          <a:xfrm>
            <a:off x="1051560" y="50749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Growth stalls.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On a slow day she can't restock, and a missed day is lost income.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TARGET USERS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trader. Sold to the institutions that serve her</a:t>
            </a:r>
            <a:endParaRPr lang="en-US" sz="3600" dirty="0"/>
          </a:p>
        </p:txBody>
      </p:sp>
      <p:sp>
        <p:nvSpPr>
          <p:cNvPr id="4" name="card-9"/>
          <p:cNvSpPr/>
          <p:nvPr/>
        </p:nvSpPr>
        <p:spPr>
          <a:xfrm>
            <a:off x="685800" y="2377440"/>
            <a:ext cx="342381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5" name="num-10"/>
          <p:cNvSpPr/>
          <p:nvPr/>
        </p:nvSpPr>
        <p:spPr>
          <a:xfrm>
            <a:off x="960120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numtxt-11"/>
          <p:cNvSpPr txBox="1"/>
          <p:nvPr/>
        </p:nvSpPr>
        <p:spPr>
          <a:xfrm>
            <a:off x="9601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title-12"/>
          <p:cNvSpPr txBox="1"/>
          <p:nvPr/>
        </p:nvSpPr>
        <p:spPr>
          <a:xfrm>
            <a:off x="960120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traders</a:t>
            </a:r>
            <a:endParaRPr lang="en-US" sz="1800" dirty="0"/>
          </a:p>
        </p:txBody>
      </p:sp>
      <p:sp>
        <p:nvSpPr>
          <p:cNvPr id="8" name="cardbody-13"/>
          <p:cNvSpPr txBox="1"/>
          <p:nvPr/>
        </p:nvSpPr>
        <p:spPr>
          <a:xfrm>
            <a:off x="960120" y="370332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Women-led micro and small businesses: market stalls, kiosks, food sellers, agents. Smartphone or basic phone.</a:t>
            </a:r>
            <a:endParaRPr lang="en-US" sz="1400" dirty="0"/>
          </a:p>
        </p:txBody>
      </p:sp>
      <p:sp>
        <p:nvSpPr>
          <p:cNvPr id="9" name="card-14"/>
          <p:cNvSpPr/>
          <p:nvPr/>
        </p:nvSpPr>
        <p:spPr>
          <a:xfrm>
            <a:off x="4383938" y="2377440"/>
            <a:ext cx="342381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0" name="num-15"/>
          <p:cNvSpPr/>
          <p:nvPr/>
        </p:nvSpPr>
        <p:spPr>
          <a:xfrm>
            <a:off x="4658258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numtxt-16"/>
          <p:cNvSpPr txBox="1"/>
          <p:nvPr/>
        </p:nvSpPr>
        <p:spPr>
          <a:xfrm>
            <a:off x="4658258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title-17"/>
          <p:cNvSpPr txBox="1"/>
          <p:nvPr/>
        </p:nvSpPr>
        <p:spPr>
          <a:xfrm>
            <a:off x="4658258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customers</a:t>
            </a:r>
            <a:endParaRPr lang="en-US" sz="1800" dirty="0"/>
          </a:p>
        </p:txBody>
      </p:sp>
      <p:sp>
        <p:nvSpPr>
          <p:cNvPr id="13" name="cardbody-18"/>
          <p:cNvSpPr txBox="1"/>
          <p:nvPr/>
        </p:nvSpPr>
        <p:spPr>
          <a:xfrm>
            <a:off x="4658258" y="370332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Shoppers who want to pay digitally even where data is patchy, including on basic phones via USSD.</a:t>
            </a:r>
            <a:endParaRPr lang="en-US" sz="1400" dirty="0"/>
          </a:p>
        </p:txBody>
      </p:sp>
      <p:sp>
        <p:nvSpPr>
          <p:cNvPr id="14" name="card-19"/>
          <p:cNvSpPr/>
          <p:nvPr/>
        </p:nvSpPr>
        <p:spPr>
          <a:xfrm>
            <a:off x="8082077" y="2377440"/>
            <a:ext cx="342381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5" name="num-20"/>
          <p:cNvSpPr/>
          <p:nvPr/>
        </p:nvSpPr>
        <p:spPr>
          <a:xfrm>
            <a:off x="8356397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numtxt-21"/>
          <p:cNvSpPr txBox="1"/>
          <p:nvPr/>
        </p:nvSpPr>
        <p:spPr>
          <a:xfrm>
            <a:off x="8356397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title-22"/>
          <p:cNvSpPr txBox="1"/>
          <p:nvPr/>
        </p:nvSpPr>
        <p:spPr>
          <a:xfrm>
            <a:off x="8356397" y="324612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(who pay)</a:t>
            </a:r>
            <a:endParaRPr lang="en-US" sz="1800" dirty="0"/>
          </a:p>
        </p:txBody>
      </p:sp>
      <p:sp>
        <p:nvSpPr>
          <p:cNvPr id="18" name="cardbody-23"/>
          <p:cNvSpPr txBox="1"/>
          <p:nvPr/>
        </p:nvSpPr>
        <p:spPr>
          <a:xfrm>
            <a:off x="8356397" y="3703320"/>
            <a:ext cx="28751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Banks, microfinance banks, mobile money operators and fintechs. They hold the licences and funds; PayVault is the layer underneath.</a:t>
            </a:r>
            <a:endParaRPr lang="en-US" sz="1400" dirty="0"/>
          </a:p>
        </p:txBody>
      </p:sp>
      <p:sp>
        <p:nvSpPr>
          <p:cNvPr id="19" name="users-note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Starting market: Nigeria. Designed for 15 African markets in English and French.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PayVault: payments that work offline, and sales that become credit</a:t>
            </a:r>
            <a:endParaRPr lang="en-US" sz="3600" dirty="0"/>
          </a:p>
        </p:txBody>
      </p:sp>
      <p:sp>
        <p:nvSpPr>
          <p:cNvPr id="4" name="card-24"/>
          <p:cNvSpPr/>
          <p:nvPr/>
        </p:nvSpPr>
        <p:spPr>
          <a:xfrm>
            <a:off x="685800" y="2468880"/>
            <a:ext cx="3423818" cy="27432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5" name="num-25"/>
          <p:cNvSpPr/>
          <p:nvPr/>
        </p:nvSpPr>
        <p:spPr>
          <a:xfrm>
            <a:off x="960120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umtxt-26"/>
          <p:cNvSpPr txBox="1"/>
          <p:nvPr/>
        </p:nvSpPr>
        <p:spPr>
          <a:xfrm>
            <a:off x="9601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title-27"/>
          <p:cNvSpPr txBox="1"/>
          <p:nvPr/>
        </p:nvSpPr>
        <p:spPr>
          <a:xfrm>
            <a:off x="960120" y="3337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offline</a:t>
            </a:r>
            <a:endParaRPr lang="en-US" sz="1800" dirty="0"/>
          </a:p>
        </p:txBody>
      </p:sp>
      <p:sp>
        <p:nvSpPr>
          <p:cNvPr id="8" name="cardbody-28"/>
          <p:cNvSpPr txBox="1"/>
          <p:nvPr/>
        </p:nvSpPr>
        <p:spPr>
          <a:xfrm>
            <a:off x="960120" y="379476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The customer's phone signs a payment with no network. The trader's phone verifies it on the spot. It settles automatically when any phone reconnects.</a:t>
            </a:r>
            <a:endParaRPr lang="en-US" sz="1400" dirty="0"/>
          </a:p>
        </p:txBody>
      </p:sp>
      <p:sp>
        <p:nvSpPr>
          <p:cNvPr id="9" name="card-29"/>
          <p:cNvSpPr/>
          <p:nvPr/>
        </p:nvSpPr>
        <p:spPr>
          <a:xfrm>
            <a:off x="4383938" y="2468880"/>
            <a:ext cx="3423818" cy="27432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0" name="num-30"/>
          <p:cNvSpPr/>
          <p:nvPr/>
        </p:nvSpPr>
        <p:spPr>
          <a:xfrm>
            <a:off x="4658258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txt-31"/>
          <p:cNvSpPr txBox="1"/>
          <p:nvPr/>
        </p:nvSpPr>
        <p:spPr>
          <a:xfrm>
            <a:off x="4658258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title-32"/>
          <p:cNvSpPr txBox="1"/>
          <p:nvPr/>
        </p:nvSpPr>
        <p:spPr>
          <a:xfrm>
            <a:off x="4658258" y="3337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become credit</a:t>
            </a:r>
            <a:endParaRPr lang="en-US" sz="1800" dirty="0"/>
          </a:p>
        </p:txBody>
      </p:sp>
      <p:sp>
        <p:nvSpPr>
          <p:cNvPr id="13" name="cardbody-33"/>
          <p:cNvSpPr txBox="1"/>
          <p:nvPr/>
        </p:nvSpPr>
        <p:spPr>
          <a:xfrm>
            <a:off x="4658258" y="379476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Every settled sale counts as a trading day. A steady month of trading lifts her score and unlocks an overdraft from the partner bank.</a:t>
            </a:r>
            <a:endParaRPr lang="en-US" sz="1400" dirty="0"/>
          </a:p>
        </p:txBody>
      </p:sp>
      <p:sp>
        <p:nvSpPr>
          <p:cNvPr id="14" name="card-34"/>
          <p:cNvSpPr/>
          <p:nvPr/>
        </p:nvSpPr>
        <p:spPr>
          <a:xfrm>
            <a:off x="8082077" y="2468880"/>
            <a:ext cx="3423818" cy="2743200"/>
          </a:xfrm>
          <a:prstGeom prst="roundRect">
            <a:avLst>
              <a:gd name="adj" fmla="val 4000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5" name="num-35"/>
          <p:cNvSpPr/>
          <p:nvPr/>
        </p:nvSpPr>
        <p:spPr>
          <a:xfrm>
            <a:off x="8356397" y="2743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numtxt-36"/>
          <p:cNvSpPr txBox="1"/>
          <p:nvPr/>
        </p:nvSpPr>
        <p:spPr>
          <a:xfrm>
            <a:off x="8356397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title-37"/>
          <p:cNvSpPr txBox="1"/>
          <p:nvPr/>
        </p:nvSpPr>
        <p:spPr>
          <a:xfrm>
            <a:off x="8356397" y="3337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phone</a:t>
            </a:r>
            <a:endParaRPr lang="en-US" sz="1800" dirty="0"/>
          </a:p>
        </p:txBody>
      </p:sp>
      <p:sp>
        <p:nvSpPr>
          <p:cNvPr id="18" name="cardbody-38"/>
          <p:cNvSpPr txBox="1"/>
          <p:nvPr/>
        </p:nvSpPr>
        <p:spPr>
          <a:xfrm>
            <a:off x="8356397" y="379476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Web app for smartphones; USSD menu, SMS confirmations and a printed stall sticker (QR / NFC) for everyone else.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HOW A SALE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stall with no signal to a loan offer</a:t>
            </a:r>
            <a:endParaRPr lang="en-US" sz="3600" dirty="0"/>
          </a:p>
        </p:txBody>
      </p:sp>
      <p:sp>
        <p:nvSpPr>
          <p:cNvPr id="4" name="card-39"/>
          <p:cNvSpPr/>
          <p:nvPr/>
        </p:nvSpPr>
        <p:spPr>
          <a:xfrm>
            <a:off x="685800" y="2377440"/>
            <a:ext cx="2396414" cy="3291840"/>
          </a:xfrm>
          <a:prstGeom prst="roundRect">
            <a:avLst>
              <a:gd name="adj" fmla="val 4579"/>
            </a:avLst>
          </a:prstGeom>
          <a:solidFill>
            <a:schemeClr val="bg2"/>
          </a:solidFill>
          <a:ln/>
        </p:spPr>
      </p:sp>
      <p:sp>
        <p:nvSpPr>
          <p:cNvPr id="5" name="num-40"/>
          <p:cNvSpPr/>
          <p:nvPr/>
        </p:nvSpPr>
        <p:spPr>
          <a:xfrm>
            <a:off x="960120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numtxt-41"/>
          <p:cNvSpPr txBox="1"/>
          <p:nvPr/>
        </p:nvSpPr>
        <p:spPr>
          <a:xfrm>
            <a:off x="9601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title-42"/>
          <p:cNvSpPr txBox="1"/>
          <p:nvPr/>
        </p:nvSpPr>
        <p:spPr>
          <a:xfrm>
            <a:off x="960120" y="3246120"/>
            <a:ext cx="18477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vault</a:t>
            </a:r>
            <a:endParaRPr lang="en-US" sz="1800" dirty="0"/>
          </a:p>
        </p:txBody>
      </p:sp>
      <p:sp>
        <p:nvSpPr>
          <p:cNvPr id="8" name="cardbody-43"/>
          <p:cNvSpPr txBox="1"/>
          <p:nvPr/>
        </p:nvSpPr>
        <p:spPr>
          <a:xfrm>
            <a:off x="960120" y="3703320"/>
            <a:ext cx="184777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Once online, the customer moves money into an offline vault on her phone, plus an optional overdraft.</a:t>
            </a:r>
            <a:endParaRPr lang="en-US" sz="1400" dirty="0"/>
          </a:p>
        </p:txBody>
      </p:sp>
      <p:sp>
        <p:nvSpPr>
          <p:cNvPr id="9" name="arrow-44"/>
          <p:cNvSpPr txBox="1"/>
          <p:nvPr/>
        </p:nvSpPr>
        <p:spPr>
          <a:xfrm>
            <a:off x="3100502" y="361188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card-45"/>
          <p:cNvSpPr/>
          <p:nvPr/>
        </p:nvSpPr>
        <p:spPr>
          <a:xfrm>
            <a:off x="3493694" y="2377440"/>
            <a:ext cx="2396414" cy="3291840"/>
          </a:xfrm>
          <a:prstGeom prst="roundRect">
            <a:avLst>
              <a:gd name="adj" fmla="val 4579"/>
            </a:avLst>
          </a:prstGeom>
          <a:solidFill>
            <a:schemeClr val="bg2"/>
          </a:solidFill>
          <a:ln/>
        </p:spPr>
      </p:sp>
      <p:sp>
        <p:nvSpPr>
          <p:cNvPr id="11" name="num-46"/>
          <p:cNvSpPr/>
          <p:nvPr/>
        </p:nvSpPr>
        <p:spPr>
          <a:xfrm>
            <a:off x="3768014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numtxt-47"/>
          <p:cNvSpPr txBox="1"/>
          <p:nvPr/>
        </p:nvSpPr>
        <p:spPr>
          <a:xfrm>
            <a:off x="3768014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cardtitle-48"/>
          <p:cNvSpPr txBox="1"/>
          <p:nvPr/>
        </p:nvSpPr>
        <p:spPr>
          <a:xfrm>
            <a:off x="3768014" y="3246120"/>
            <a:ext cx="18477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with no signal</a:t>
            </a:r>
            <a:endParaRPr lang="en-US" sz="1800" dirty="0"/>
          </a:p>
        </p:txBody>
      </p:sp>
      <p:sp>
        <p:nvSpPr>
          <p:cNvPr id="14" name="cardbody-49"/>
          <p:cNvSpPr txBox="1"/>
          <p:nvPr/>
        </p:nvSpPr>
        <p:spPr>
          <a:xfrm>
            <a:off x="3768014" y="4023360"/>
            <a:ext cx="18477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She scans the trader's code and enters her PIN. The trader's phone verifies the signed payment in under a second.</a:t>
            </a:r>
            <a:endParaRPr lang="en-US" sz="1400" dirty="0"/>
          </a:p>
        </p:txBody>
      </p:sp>
      <p:sp>
        <p:nvSpPr>
          <p:cNvPr id="15" name="arrow-50"/>
          <p:cNvSpPr txBox="1"/>
          <p:nvPr/>
        </p:nvSpPr>
        <p:spPr>
          <a:xfrm>
            <a:off x="5908396" y="361188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card-51"/>
          <p:cNvSpPr/>
          <p:nvPr/>
        </p:nvSpPr>
        <p:spPr>
          <a:xfrm>
            <a:off x="6301588" y="2377440"/>
            <a:ext cx="2396414" cy="3291840"/>
          </a:xfrm>
          <a:prstGeom prst="roundRect">
            <a:avLst>
              <a:gd name="adj" fmla="val 4579"/>
            </a:avLst>
          </a:prstGeom>
          <a:solidFill>
            <a:schemeClr val="bg2"/>
          </a:solidFill>
          <a:ln/>
        </p:spPr>
      </p:sp>
      <p:sp>
        <p:nvSpPr>
          <p:cNvPr id="17" name="num-52"/>
          <p:cNvSpPr/>
          <p:nvPr/>
        </p:nvSpPr>
        <p:spPr>
          <a:xfrm>
            <a:off x="6575908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numtxt-53"/>
          <p:cNvSpPr txBox="1"/>
          <p:nvPr/>
        </p:nvSpPr>
        <p:spPr>
          <a:xfrm>
            <a:off x="6575908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cardtitle-54"/>
          <p:cNvSpPr txBox="1"/>
          <p:nvPr/>
        </p:nvSpPr>
        <p:spPr>
          <a:xfrm>
            <a:off x="6575908" y="3246120"/>
            <a:ext cx="18477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automatically</a:t>
            </a:r>
            <a:endParaRPr lang="en-US" sz="1800" dirty="0"/>
          </a:p>
        </p:txBody>
      </p:sp>
      <p:sp>
        <p:nvSpPr>
          <p:cNvPr id="20" name="cardbody-55"/>
          <p:cNvSpPr txBox="1"/>
          <p:nvPr/>
        </p:nvSpPr>
        <p:spPr>
          <a:xfrm>
            <a:off x="6575908" y="4023360"/>
            <a:ext cx="18477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When either phone, or any nearby PayVault phone, gets signal, the payment settles and the trader gets an SMS.</a:t>
            </a:r>
            <a:endParaRPr lang="en-US" sz="1400" dirty="0"/>
          </a:p>
        </p:txBody>
      </p:sp>
      <p:sp>
        <p:nvSpPr>
          <p:cNvPr id="21" name="arrow-56"/>
          <p:cNvSpPr txBox="1"/>
          <p:nvPr/>
        </p:nvSpPr>
        <p:spPr>
          <a:xfrm>
            <a:off x="8716289" y="361188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card-57"/>
          <p:cNvSpPr/>
          <p:nvPr/>
        </p:nvSpPr>
        <p:spPr>
          <a:xfrm>
            <a:off x="9109481" y="2377440"/>
            <a:ext cx="2396414" cy="3291840"/>
          </a:xfrm>
          <a:prstGeom prst="roundRect">
            <a:avLst>
              <a:gd name="adj" fmla="val 4579"/>
            </a:avLst>
          </a:prstGeom>
          <a:solidFill>
            <a:schemeClr val="bg2"/>
          </a:solidFill>
          <a:ln/>
        </p:spPr>
      </p:sp>
      <p:sp>
        <p:nvSpPr>
          <p:cNvPr id="23" name="num-58"/>
          <p:cNvSpPr/>
          <p:nvPr/>
        </p:nvSpPr>
        <p:spPr>
          <a:xfrm>
            <a:off x="9383801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4" name="numtxt-59"/>
          <p:cNvSpPr txBox="1"/>
          <p:nvPr/>
        </p:nvSpPr>
        <p:spPr>
          <a:xfrm>
            <a:off x="9383801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cardtitle-60"/>
          <p:cNvSpPr txBox="1"/>
          <p:nvPr/>
        </p:nvSpPr>
        <p:spPr>
          <a:xfrm>
            <a:off x="9383801" y="3246120"/>
            <a:ext cx="18477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credit</a:t>
            </a:r>
            <a:endParaRPr lang="en-US" sz="1800" dirty="0"/>
          </a:p>
        </p:txBody>
      </p:sp>
      <p:sp>
        <p:nvSpPr>
          <p:cNvPr id="26" name="cardbody-61"/>
          <p:cNvSpPr txBox="1"/>
          <p:nvPr/>
        </p:nvSpPr>
        <p:spPr>
          <a:xfrm>
            <a:off x="9383801" y="3703320"/>
            <a:ext cx="184777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Settled sales build her trading history. The partner bank sees verified income and offers an overdraft.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about PayVault</a:t>
            </a:r>
            <a:endParaRPr lang="en-US" sz="3600" dirty="0"/>
          </a:p>
        </p:txBody>
      </p:sp>
      <p:sp>
        <p:nvSpPr>
          <p:cNvPr id="4" name="card-62"/>
          <p:cNvSpPr/>
          <p:nvPr/>
        </p:nvSpPr>
        <p:spPr>
          <a:xfrm>
            <a:off x="685800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cardtitle-63"/>
          <p:cNvSpPr txBox="1"/>
          <p:nvPr/>
        </p:nvSpPr>
        <p:spPr>
          <a:xfrm>
            <a:off x="960120" y="24231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overdraft</a:t>
            </a:r>
            <a:endParaRPr lang="en-US" sz="1800" dirty="0"/>
          </a:p>
        </p:txBody>
      </p:sp>
      <p:sp>
        <p:nvSpPr>
          <p:cNvPr id="6" name="cardbody-64"/>
          <p:cNvSpPr txBox="1"/>
          <p:nvPr/>
        </p:nvSpPr>
        <p:spPr>
          <a:xfrm>
            <a:off x="960120" y="28803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Pay-later credit that works with no network, inside the same signed vault as the customer's own money.</a:t>
            </a:r>
            <a:endParaRPr lang="en-US" sz="1400" dirty="0"/>
          </a:p>
        </p:txBody>
      </p:sp>
      <p:sp>
        <p:nvSpPr>
          <p:cNvPr id="7" name="card-65"/>
          <p:cNvSpPr/>
          <p:nvPr/>
        </p:nvSpPr>
        <p:spPr>
          <a:xfrm>
            <a:off x="4383938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cardtitle-66"/>
          <p:cNvSpPr txBox="1"/>
          <p:nvPr/>
        </p:nvSpPr>
        <p:spPr>
          <a:xfrm>
            <a:off x="4658258" y="24231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sales as credit data</a:t>
            </a:r>
            <a:endParaRPr lang="en-US" sz="1800" dirty="0"/>
          </a:p>
        </p:txBody>
      </p:sp>
      <p:sp>
        <p:nvSpPr>
          <p:cNvPr id="9" name="cardbody-67"/>
          <p:cNvSpPr txBox="1"/>
          <p:nvPr/>
        </p:nvSpPr>
        <p:spPr>
          <a:xfrm>
            <a:off x="4658258" y="320040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Trading days and takings, collected even without signal, become alternative data for lending.</a:t>
            </a:r>
            <a:endParaRPr lang="en-US" sz="1400" dirty="0"/>
          </a:p>
        </p:txBody>
      </p:sp>
      <p:sp>
        <p:nvSpPr>
          <p:cNvPr id="10" name="card-68"/>
          <p:cNvSpPr/>
          <p:nvPr/>
        </p:nvSpPr>
        <p:spPr>
          <a:xfrm>
            <a:off x="8082077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cardtitle-69"/>
          <p:cNvSpPr txBox="1"/>
          <p:nvPr/>
        </p:nvSpPr>
        <p:spPr>
          <a:xfrm>
            <a:off x="8356397" y="24231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trust</a:t>
            </a:r>
            <a:endParaRPr lang="en-US" sz="1800" dirty="0"/>
          </a:p>
        </p:txBody>
      </p:sp>
      <p:sp>
        <p:nvSpPr>
          <p:cNvPr id="12" name="cardbody-70"/>
          <p:cNvSpPr txBox="1"/>
          <p:nvPr/>
        </p:nvSpPr>
        <p:spPr>
          <a:xfrm>
            <a:off x="8356397" y="28803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Every payment is signed on the phone (ECDSA P-256) and hash-chained, so tampering and double-spends are detectable.</a:t>
            </a:r>
            <a:endParaRPr lang="en-US" sz="1400" dirty="0"/>
          </a:p>
        </p:txBody>
      </p:sp>
      <p:sp>
        <p:nvSpPr>
          <p:cNvPr id="13" name="card-71"/>
          <p:cNvSpPr/>
          <p:nvPr/>
        </p:nvSpPr>
        <p:spPr>
          <a:xfrm>
            <a:off x="685800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cardtitle-72"/>
          <p:cNvSpPr txBox="1"/>
          <p:nvPr/>
        </p:nvSpPr>
        <p:spPr>
          <a:xfrm>
            <a:off x="960120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by any route</a:t>
            </a:r>
            <a:endParaRPr lang="en-US" sz="1800" dirty="0"/>
          </a:p>
        </p:txBody>
      </p:sp>
      <p:sp>
        <p:nvSpPr>
          <p:cNvPr id="15" name="cardbody-73"/>
          <p:cNvSpPr txBox="1"/>
          <p:nvPr/>
        </p:nvSpPr>
        <p:spPr>
          <a:xfrm>
            <a:off x="960120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A payment reaches the bank via the trader's phone, the customer's phone, a nearby phone relaying it by QR, or SMS.</a:t>
            </a:r>
            <a:endParaRPr lang="en-US" sz="1400" dirty="0"/>
          </a:p>
        </p:txBody>
      </p:sp>
      <p:sp>
        <p:nvSpPr>
          <p:cNvPr id="16" name="card-74"/>
          <p:cNvSpPr/>
          <p:nvPr/>
        </p:nvSpPr>
        <p:spPr>
          <a:xfrm>
            <a:off x="4383938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cardtitle-75"/>
          <p:cNvSpPr txBox="1"/>
          <p:nvPr/>
        </p:nvSpPr>
        <p:spPr>
          <a:xfrm>
            <a:off x="4658258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</a:t>
            </a:r>
            <a:endParaRPr lang="en-US" sz="1800" dirty="0"/>
          </a:p>
        </p:txBody>
      </p:sp>
      <p:sp>
        <p:nvSpPr>
          <p:cNvPr id="18" name="cardbody-76"/>
          <p:cNvSpPr txBox="1"/>
          <p:nvPr/>
        </p:nvSpPr>
        <p:spPr>
          <a:xfrm>
            <a:off x="4658258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Smartphone web app, USSD, SMS and printed stall stickers: no app store, no new hardware.</a:t>
            </a:r>
            <a:endParaRPr lang="en-US" sz="1400" dirty="0"/>
          </a:p>
        </p:txBody>
      </p:sp>
      <p:sp>
        <p:nvSpPr>
          <p:cNvPr id="19" name="card-77"/>
          <p:cNvSpPr/>
          <p:nvPr/>
        </p:nvSpPr>
        <p:spPr>
          <a:xfrm>
            <a:off x="8082077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cardtitle-78"/>
          <p:cNvSpPr txBox="1"/>
          <p:nvPr/>
        </p:nvSpPr>
        <p:spPr>
          <a:xfrm>
            <a:off x="8356397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by design</a:t>
            </a:r>
            <a:endParaRPr lang="en-US" sz="1800" dirty="0"/>
          </a:p>
        </p:txBody>
      </p:sp>
      <p:sp>
        <p:nvSpPr>
          <p:cNvPr id="21" name="cardbody-79"/>
          <p:cNvSpPr txBox="1"/>
          <p:nvPr/>
        </p:nvSpPr>
        <p:spPr>
          <a:xfrm>
            <a:off x="8356397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Country rules are configuration, not code. 15 markets set up, in English and French.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WHY IT'S SAFE TO PAY OFFLINE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double-spending: bounded, detected, recovered</a:t>
            </a:r>
            <a:endParaRPr lang="en-US" sz="3600" dirty="0"/>
          </a:p>
        </p:txBody>
      </p:sp>
      <p:sp>
        <p:nvSpPr>
          <p:cNvPr id="4" name="card-80"/>
          <p:cNvSpPr/>
          <p:nvPr/>
        </p:nvSpPr>
        <p:spPr>
          <a:xfrm>
            <a:off x="685800" y="2468880"/>
            <a:ext cx="3423818" cy="256032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5" name="cardtitle-81"/>
          <p:cNvSpPr txBox="1"/>
          <p:nvPr/>
        </p:nvSpPr>
        <p:spPr>
          <a:xfrm>
            <a:off x="960120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</a:t>
            </a:r>
            <a:endParaRPr lang="en-US" sz="1800" dirty="0"/>
          </a:p>
        </p:txBody>
      </p:sp>
      <p:sp>
        <p:nvSpPr>
          <p:cNvPr id="6" name="cardbody-82"/>
          <p:cNvSpPr txBox="1"/>
          <p:nvPr/>
        </p:nvSpPr>
        <p:spPr>
          <a:xfrm>
            <a:off x="960120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Small vault caps, per-payment and per-trader limits set per country. The worst case is a known, small amount.</a:t>
            </a:r>
            <a:endParaRPr lang="en-US" sz="1400" dirty="0"/>
          </a:p>
        </p:txBody>
      </p:sp>
      <p:sp>
        <p:nvSpPr>
          <p:cNvPr id="7" name="card-83"/>
          <p:cNvSpPr/>
          <p:nvPr/>
        </p:nvSpPr>
        <p:spPr>
          <a:xfrm>
            <a:off x="4383938" y="2468880"/>
            <a:ext cx="3423818" cy="256032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cardtitle-84"/>
          <p:cNvSpPr txBox="1"/>
          <p:nvPr/>
        </p:nvSpPr>
        <p:spPr>
          <a:xfrm>
            <a:off x="4658258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1800" dirty="0"/>
          </a:p>
        </p:txBody>
      </p:sp>
      <p:sp>
        <p:nvSpPr>
          <p:cNvPr id="9" name="cardbody-85"/>
          <p:cNvSpPr txBox="1"/>
          <p:nvPr/>
        </p:nvSpPr>
        <p:spPr>
          <a:xfrm>
            <a:off x="4658258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Payments are numbered and hash-chained. A cloned phone shows up as a "fork" the moment payments sync.</a:t>
            </a:r>
            <a:endParaRPr lang="en-US" sz="1400" dirty="0"/>
          </a:p>
        </p:txBody>
      </p:sp>
      <p:sp>
        <p:nvSpPr>
          <p:cNvPr id="10" name="card-86"/>
          <p:cNvSpPr/>
          <p:nvPr/>
        </p:nvSpPr>
        <p:spPr>
          <a:xfrm>
            <a:off x="8082077" y="2468880"/>
            <a:ext cx="3423818" cy="256032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cardtitle-87"/>
          <p:cNvSpPr txBox="1"/>
          <p:nvPr/>
        </p:nvSpPr>
        <p:spPr>
          <a:xfrm>
            <a:off x="8356397" y="27432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1800" dirty="0"/>
          </a:p>
        </p:txBody>
      </p:sp>
      <p:sp>
        <p:nvSpPr>
          <p:cNvPr id="12" name="cardbody-88"/>
          <p:cNvSpPr txBox="1"/>
          <p:nvPr/>
        </p:nvSpPr>
        <p:spPr>
          <a:xfrm>
            <a:off x="8356397" y="320040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The trader is paid in full from a risk pool; the loss is recovered from the ID-verified holder. Lost phones can be frozen.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pact-photo" descr="/home/user/Pulse/public/photos/sh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IMPACT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sales, a credit history and fairer loans</a:t>
            </a:r>
            <a:endParaRPr lang="en-US" sz="3600" dirty="0"/>
          </a:p>
        </p:txBody>
      </p:sp>
      <p:sp>
        <p:nvSpPr>
          <p:cNvPr id="5" name="card-89"/>
          <p:cNvSpPr/>
          <p:nvPr/>
        </p:nvSpPr>
        <p:spPr>
          <a:xfrm>
            <a:off x="685800" y="2240280"/>
            <a:ext cx="2255520" cy="228600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/>
        </p:spPr>
      </p:sp>
      <p:sp>
        <p:nvSpPr>
          <p:cNvPr id="6" name="cardtitle-90"/>
          <p:cNvSpPr txBox="1"/>
          <p:nvPr/>
        </p:nvSpPr>
        <p:spPr>
          <a:xfrm>
            <a:off x="960120" y="2514600"/>
            <a:ext cx="170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</a:t>
            </a:r>
            <a:endParaRPr lang="en-US" sz="1800" dirty="0"/>
          </a:p>
        </p:txBody>
      </p:sp>
      <p:sp>
        <p:nvSpPr>
          <p:cNvPr id="7" name="cardbody-91"/>
          <p:cNvSpPr txBox="1"/>
          <p:nvPr/>
        </p:nvSpPr>
        <p:spPr>
          <a:xfrm>
            <a:off x="960120" y="2971800"/>
            <a:ext cx="170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Never lose a digital sale to bad network. Build a verifiable record. Get an overdraft to restock.</a:t>
            </a:r>
            <a:endParaRPr lang="en-US" sz="1400" dirty="0"/>
          </a:p>
        </p:txBody>
      </p:sp>
      <p:sp>
        <p:nvSpPr>
          <p:cNvPr id="8" name="card-92"/>
          <p:cNvSpPr/>
          <p:nvPr/>
        </p:nvSpPr>
        <p:spPr>
          <a:xfrm>
            <a:off x="3169920" y="2240280"/>
            <a:ext cx="2255520" cy="228600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/>
        </p:spPr>
      </p:sp>
      <p:sp>
        <p:nvSpPr>
          <p:cNvPr id="9" name="cardtitle-93"/>
          <p:cNvSpPr txBox="1"/>
          <p:nvPr/>
        </p:nvSpPr>
        <p:spPr>
          <a:xfrm>
            <a:off x="3444240" y="2514600"/>
            <a:ext cx="170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0" name="cardbody-94"/>
          <p:cNvSpPr txBox="1"/>
          <p:nvPr/>
        </p:nvSpPr>
        <p:spPr>
          <a:xfrm>
            <a:off x="3444240" y="2971800"/>
            <a:ext cx="170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Pay digitally anywhere, on any phone, with small pay-later when short.</a:t>
            </a:r>
            <a:endParaRPr lang="en-US" sz="1400" dirty="0"/>
          </a:p>
        </p:txBody>
      </p:sp>
      <p:sp>
        <p:nvSpPr>
          <p:cNvPr id="11" name="card-95"/>
          <p:cNvSpPr/>
          <p:nvPr/>
        </p:nvSpPr>
        <p:spPr>
          <a:xfrm>
            <a:off x="5654040" y="2240280"/>
            <a:ext cx="2255520" cy="228600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/>
        </p:spPr>
      </p:sp>
      <p:sp>
        <p:nvSpPr>
          <p:cNvPr id="12" name="cardtitle-96"/>
          <p:cNvSpPr txBox="1"/>
          <p:nvPr/>
        </p:nvSpPr>
        <p:spPr>
          <a:xfrm>
            <a:off x="5928360" y="2514600"/>
            <a:ext cx="170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800" dirty="0"/>
          </a:p>
        </p:txBody>
      </p:sp>
      <p:sp>
        <p:nvSpPr>
          <p:cNvPr id="13" name="cardbody-97"/>
          <p:cNvSpPr txBox="1"/>
          <p:nvPr/>
        </p:nvSpPr>
        <p:spPr>
          <a:xfrm>
            <a:off x="5928360" y="2971800"/>
            <a:ext cx="170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New, lower-risk SME lending backed by real sales data, plus volume that used to be cash.</a:t>
            </a:r>
            <a:endParaRPr lang="en-US" sz="1400" dirty="0"/>
          </a:p>
        </p:txBody>
      </p:sp>
      <p:sp>
        <p:nvSpPr>
          <p:cNvPr id="14" name="measure-kicker"/>
          <p:cNvSpPr txBox="1"/>
          <p:nvPr/>
        </p:nvSpPr>
        <p:spPr>
          <a:xfrm>
            <a:off x="685800" y="4754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THE PILOT WILL MEASURE</a:t>
            </a:r>
            <a:endParaRPr lang="en-US" sz="1200" dirty="0"/>
          </a:p>
        </p:txBody>
      </p:sp>
      <p:sp>
        <p:nvSpPr>
          <p:cNvPr id="15" name="pill-98"/>
          <p:cNvSpPr/>
          <p:nvPr/>
        </p:nvSpPr>
        <p:spPr>
          <a:xfrm>
            <a:off x="685800" y="5120640"/>
            <a:ext cx="2139696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6" name="pilltxt-99"/>
          <p:cNvSpPr txBox="1"/>
          <p:nvPr/>
        </p:nvSpPr>
        <p:spPr>
          <a:xfrm>
            <a:off x="685800" y="512064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Sales captured offline</a:t>
            </a:r>
            <a:endParaRPr lang="en-US" sz="1200" dirty="0"/>
          </a:p>
        </p:txBody>
      </p:sp>
      <p:sp>
        <p:nvSpPr>
          <p:cNvPr id="17" name="pill-100"/>
          <p:cNvSpPr/>
          <p:nvPr/>
        </p:nvSpPr>
        <p:spPr>
          <a:xfrm>
            <a:off x="2962656" y="5120640"/>
            <a:ext cx="15316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pilltxt-101"/>
          <p:cNvSpPr txBox="1"/>
          <p:nvPr/>
        </p:nvSpPr>
        <p:spPr>
          <a:xfrm>
            <a:off x="2962656" y="5120640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Settlement rate</a:t>
            </a:r>
            <a:endParaRPr lang="en-US" sz="1200" dirty="0"/>
          </a:p>
        </p:txBody>
      </p:sp>
      <p:sp>
        <p:nvSpPr>
          <p:cNvPr id="19" name="pill-102"/>
          <p:cNvSpPr/>
          <p:nvPr/>
        </p:nvSpPr>
        <p:spPr>
          <a:xfrm>
            <a:off x="4631436" y="5120640"/>
            <a:ext cx="1444752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0" name="pilltxt-103"/>
          <p:cNvSpPr txBox="1"/>
          <p:nvPr/>
        </p:nvSpPr>
        <p:spPr>
          <a:xfrm>
            <a:off x="4631436" y="51206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Time to settle</a:t>
            </a:r>
            <a:endParaRPr lang="en-US" sz="1200" dirty="0"/>
          </a:p>
        </p:txBody>
      </p:sp>
      <p:sp>
        <p:nvSpPr>
          <p:cNvPr id="21" name="pill-104"/>
          <p:cNvSpPr/>
          <p:nvPr/>
        </p:nvSpPr>
        <p:spPr>
          <a:xfrm>
            <a:off x="685800" y="5577840"/>
            <a:ext cx="196596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2" name="pilltxt-105"/>
          <p:cNvSpPr txBox="1"/>
          <p:nvPr/>
        </p:nvSpPr>
        <p:spPr>
          <a:xfrm>
            <a:off x="685800" y="5577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Fraud loss vs volume</a:t>
            </a:r>
            <a:endParaRPr lang="en-US" sz="1200" dirty="0"/>
          </a:p>
        </p:txBody>
      </p:sp>
      <p:sp>
        <p:nvSpPr>
          <p:cNvPr id="23" name="pill-106"/>
          <p:cNvSpPr/>
          <p:nvPr/>
        </p:nvSpPr>
        <p:spPr>
          <a:xfrm>
            <a:off x="2788920" y="5577840"/>
            <a:ext cx="2226564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4" name="pilltxt-107"/>
          <p:cNvSpPr txBox="1"/>
          <p:nvPr/>
        </p:nvSpPr>
        <p:spPr>
          <a:xfrm>
            <a:off x="2788920" y="5577840"/>
            <a:ext cx="22265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Traders reaching credit</a:t>
            </a:r>
            <a:endParaRPr lang="en-US" sz="1200" dirty="0"/>
          </a:p>
        </p:txBody>
      </p:sp>
      <p:sp>
        <p:nvSpPr>
          <p:cNvPr id="25" name="pill-108"/>
          <p:cNvSpPr/>
          <p:nvPr/>
        </p:nvSpPr>
        <p:spPr>
          <a:xfrm>
            <a:off x="5152644" y="5577840"/>
            <a:ext cx="1444752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pilltxt-109"/>
          <p:cNvSpPr txBox="1"/>
          <p:nvPr/>
        </p:nvSpPr>
        <p:spPr>
          <a:xfrm>
            <a:off x="5152644" y="55778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Repayment rate</a:t>
            </a:r>
            <a:endParaRPr lang="en-US" sz="1200" dirty="0"/>
          </a:p>
        </p:txBody>
      </p:sp>
      <p:sp>
        <p:nvSpPr>
          <p:cNvPr id="27" name="pill-110"/>
          <p:cNvSpPr/>
          <p:nvPr/>
        </p:nvSpPr>
        <p:spPr>
          <a:xfrm>
            <a:off x="685800" y="6035040"/>
            <a:ext cx="15316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8" name="pilltxt-111"/>
          <p:cNvSpPr txBox="1"/>
          <p:nvPr/>
        </p:nvSpPr>
        <p:spPr>
          <a:xfrm>
            <a:off x="685800" y="6035040"/>
            <a:ext cx="1531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Women-led share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BUSINESS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infrastructure, white-labelled into our partners' apps</a:t>
            </a:r>
            <a:endParaRPr lang="en-US" sz="3600" dirty="0"/>
          </a:p>
        </p:txBody>
      </p:sp>
      <p:sp>
        <p:nvSpPr>
          <p:cNvPr id="4" name="card-112"/>
          <p:cNvSpPr/>
          <p:nvPr/>
        </p:nvSpPr>
        <p:spPr>
          <a:xfrm>
            <a:off x="685800" y="2286000"/>
            <a:ext cx="249928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num-113"/>
          <p:cNvSpPr/>
          <p:nvPr/>
        </p:nvSpPr>
        <p:spPr>
          <a:xfrm>
            <a:off x="960120" y="25603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numtxt-114"/>
          <p:cNvSpPr txBox="1"/>
          <p:nvPr/>
        </p:nvSpPr>
        <p:spPr>
          <a:xfrm>
            <a:off x="9601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title-115"/>
          <p:cNvSpPr txBox="1"/>
          <p:nvPr/>
        </p:nvSpPr>
        <p:spPr>
          <a:xfrm>
            <a:off x="960120" y="315468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</a:t>
            </a:r>
            <a:endParaRPr lang="en-US" sz="1800" dirty="0"/>
          </a:p>
        </p:txBody>
      </p:sp>
      <p:sp>
        <p:nvSpPr>
          <p:cNvPr id="8" name="cardbody-116"/>
          <p:cNvSpPr txBox="1"/>
          <p:nvPr/>
        </p:nvSpPr>
        <p:spPr>
          <a:xfrm>
            <a:off x="960120" y="3611880"/>
            <a:ext cx="19506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Small fee on each settled offline payment.</a:t>
            </a:r>
            <a:endParaRPr lang="en-US" sz="1400" dirty="0"/>
          </a:p>
        </p:txBody>
      </p:sp>
      <p:sp>
        <p:nvSpPr>
          <p:cNvPr id="9" name="card-117"/>
          <p:cNvSpPr/>
          <p:nvPr/>
        </p:nvSpPr>
        <p:spPr>
          <a:xfrm>
            <a:off x="3459404" y="2286000"/>
            <a:ext cx="249928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num-118"/>
          <p:cNvSpPr/>
          <p:nvPr/>
        </p:nvSpPr>
        <p:spPr>
          <a:xfrm>
            <a:off x="3733724" y="25603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numtxt-119"/>
          <p:cNvSpPr txBox="1"/>
          <p:nvPr/>
        </p:nvSpPr>
        <p:spPr>
          <a:xfrm>
            <a:off x="3733724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title-120"/>
          <p:cNvSpPr txBox="1"/>
          <p:nvPr/>
        </p:nvSpPr>
        <p:spPr>
          <a:xfrm>
            <a:off x="3733724" y="315468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share</a:t>
            </a:r>
            <a:endParaRPr lang="en-US" sz="1800" dirty="0"/>
          </a:p>
        </p:txBody>
      </p:sp>
      <p:sp>
        <p:nvSpPr>
          <p:cNvPr id="13" name="cardbody-121"/>
          <p:cNvSpPr txBox="1"/>
          <p:nvPr/>
        </p:nvSpPr>
        <p:spPr>
          <a:xfrm>
            <a:off x="3733724" y="3611880"/>
            <a:ext cx="19506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Share of overdraft fees on credit that PayVault data unlocks.</a:t>
            </a:r>
            <a:endParaRPr lang="en-US" sz="1400" dirty="0"/>
          </a:p>
        </p:txBody>
      </p:sp>
      <p:sp>
        <p:nvSpPr>
          <p:cNvPr id="14" name="card-122"/>
          <p:cNvSpPr/>
          <p:nvPr/>
        </p:nvSpPr>
        <p:spPr>
          <a:xfrm>
            <a:off x="6233008" y="2286000"/>
            <a:ext cx="249928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5" name="num-123"/>
          <p:cNvSpPr/>
          <p:nvPr/>
        </p:nvSpPr>
        <p:spPr>
          <a:xfrm>
            <a:off x="6507328" y="25603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numtxt-124"/>
          <p:cNvSpPr txBox="1"/>
          <p:nvPr/>
        </p:nvSpPr>
        <p:spPr>
          <a:xfrm>
            <a:off x="6507328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title-125"/>
          <p:cNvSpPr txBox="1"/>
          <p:nvPr/>
        </p:nvSpPr>
        <p:spPr>
          <a:xfrm>
            <a:off x="6507328" y="315468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licence</a:t>
            </a:r>
            <a:endParaRPr lang="en-US" sz="1800" dirty="0"/>
          </a:p>
        </p:txBody>
      </p:sp>
      <p:sp>
        <p:nvSpPr>
          <p:cNvPr id="18" name="cardbody-126"/>
          <p:cNvSpPr txBox="1"/>
          <p:nvPr/>
        </p:nvSpPr>
        <p:spPr>
          <a:xfrm>
            <a:off x="6507328" y="39319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Per partner and per country, with integration support.</a:t>
            </a:r>
            <a:endParaRPr lang="en-US" sz="1400" dirty="0"/>
          </a:p>
        </p:txBody>
      </p:sp>
      <p:sp>
        <p:nvSpPr>
          <p:cNvPr id="19" name="card-127"/>
          <p:cNvSpPr/>
          <p:nvPr/>
        </p:nvSpPr>
        <p:spPr>
          <a:xfrm>
            <a:off x="9006611" y="2286000"/>
            <a:ext cx="249928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0" name="num-128"/>
          <p:cNvSpPr/>
          <p:nvPr/>
        </p:nvSpPr>
        <p:spPr>
          <a:xfrm>
            <a:off x="9280931" y="25603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numtxt-129"/>
          <p:cNvSpPr txBox="1"/>
          <p:nvPr/>
        </p:nvSpPr>
        <p:spPr>
          <a:xfrm>
            <a:off x="9280931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title-130"/>
          <p:cNvSpPr txBox="1"/>
          <p:nvPr/>
        </p:nvSpPr>
        <p:spPr>
          <a:xfrm>
            <a:off x="9280931" y="315468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pool</a:t>
            </a:r>
            <a:endParaRPr lang="en-US" sz="1800" dirty="0"/>
          </a:p>
        </p:txBody>
      </p:sp>
      <p:sp>
        <p:nvSpPr>
          <p:cNvPr id="23" name="cardbody-131"/>
          <p:cNvSpPr txBox="1"/>
          <p:nvPr/>
        </p:nvSpPr>
        <p:spPr>
          <a:xfrm>
            <a:off x="9280931" y="3611880"/>
            <a:ext cx="19506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Optional guarantee premium covering offline fraud losses.</a:t>
            </a:r>
            <a:endParaRPr lang="en-US" sz="1400" dirty="0"/>
          </a:p>
        </p:txBody>
      </p:sp>
      <p:sp>
        <p:nvSpPr>
          <p:cNvPr id="24" name="custody"/>
          <p:cNvSpPr/>
          <p:nvPr/>
        </p:nvSpPr>
        <p:spPr>
          <a:xfrm>
            <a:off x="685800" y="5074920"/>
            <a:ext cx="10820095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sp>
        <p:nvSpPr>
          <p:cNvPr id="25" name="custody-txt"/>
          <p:cNvSpPr txBox="1"/>
          <p:nvPr/>
        </p:nvSpPr>
        <p:spPr>
          <a:xfrm>
            <a:off x="960120" y="507492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PayVault never holds customer funds. Licensed partners are the lender and custodian of record.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IMPLEMENTATION APPROACH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working prototype to live pilot</a:t>
            </a:r>
            <a:endParaRPr lang="en-US" sz="3600" dirty="0"/>
          </a:p>
        </p:txBody>
      </p:sp>
      <p:sp>
        <p:nvSpPr>
          <p:cNvPr id="4" name="card-132"/>
          <p:cNvSpPr/>
          <p:nvPr/>
        </p:nvSpPr>
        <p:spPr>
          <a:xfrm>
            <a:off x="685800" y="2194560"/>
            <a:ext cx="2499284" cy="3017520"/>
          </a:xfrm>
          <a:prstGeom prst="roundRect">
            <a:avLst>
              <a:gd name="adj" fmla="val 4390"/>
            </a:avLst>
          </a:prstGeom>
          <a:solidFill>
            <a:schemeClr val="accent4"/>
          </a:solidFill>
          <a:ln/>
        </p:spPr>
      </p:sp>
      <p:sp>
        <p:nvSpPr>
          <p:cNvPr id="5" name="tag-133"/>
          <p:cNvSpPr/>
          <p:nvPr/>
        </p:nvSpPr>
        <p:spPr>
          <a:xfrm>
            <a:off x="960120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6" name="tagtxt-134"/>
          <p:cNvSpPr txBox="1"/>
          <p:nvPr/>
        </p:nvSpPr>
        <p:spPr>
          <a:xfrm>
            <a:off x="960120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Done</a:t>
            </a:r>
            <a:endParaRPr lang="en-US" sz="1100" dirty="0"/>
          </a:p>
        </p:txBody>
      </p:sp>
      <p:sp>
        <p:nvSpPr>
          <p:cNvPr id="7" name="cardtitle-135"/>
          <p:cNvSpPr txBox="1"/>
          <p:nvPr/>
        </p:nvSpPr>
        <p:spPr>
          <a:xfrm>
            <a:off x="960120" y="2971800"/>
            <a:ext cx="1950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Prototype</a:t>
            </a:r>
            <a:endParaRPr lang="en-US" sz="1800" dirty="0"/>
          </a:p>
        </p:txBody>
      </p:sp>
      <p:sp>
        <p:nvSpPr>
          <p:cNvPr id="8" name="cardbody-136"/>
          <p:cNvSpPr txBox="1"/>
          <p:nvPr/>
        </p:nvSpPr>
        <p:spPr>
          <a:xfrm>
            <a:off x="960120" y="3749040"/>
            <a:ext cx="19506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Live wallet, merchant mode, USSD, partner console, API and docs. Automated tests on payments, fraud and credit.</a:t>
            </a:r>
            <a:endParaRPr lang="en-US" sz="1400" dirty="0"/>
          </a:p>
        </p:txBody>
      </p:sp>
      <p:sp>
        <p:nvSpPr>
          <p:cNvPr id="9" name="card-137"/>
          <p:cNvSpPr/>
          <p:nvPr/>
        </p:nvSpPr>
        <p:spPr>
          <a:xfrm>
            <a:off x="3459404" y="2194560"/>
            <a:ext cx="2499284" cy="301752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</p:sp>
      <p:sp>
        <p:nvSpPr>
          <p:cNvPr id="10" name="tag-138"/>
          <p:cNvSpPr/>
          <p:nvPr/>
        </p:nvSpPr>
        <p:spPr>
          <a:xfrm>
            <a:off x="3733724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" name="tagtxt-139"/>
          <p:cNvSpPr txBox="1"/>
          <p:nvPr/>
        </p:nvSpPr>
        <p:spPr>
          <a:xfrm>
            <a:off x="3733724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0–3 months</a:t>
            </a:r>
            <a:endParaRPr lang="en-US" sz="1100" dirty="0"/>
          </a:p>
        </p:txBody>
      </p:sp>
      <p:sp>
        <p:nvSpPr>
          <p:cNvPr id="12" name="cardtitle-140"/>
          <p:cNvSpPr txBox="1"/>
          <p:nvPr/>
        </p:nvSpPr>
        <p:spPr>
          <a:xfrm>
            <a:off x="3733724" y="297180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</a:t>
            </a:r>
            <a:endParaRPr lang="en-US" sz="1800" dirty="0"/>
          </a:p>
        </p:txBody>
      </p:sp>
      <p:sp>
        <p:nvSpPr>
          <p:cNvPr id="13" name="cardbody-141"/>
          <p:cNvSpPr txBox="1"/>
          <p:nvPr/>
        </p:nvSpPr>
        <p:spPr>
          <a:xfrm>
            <a:off x="3733724" y="3429000"/>
            <a:ext cx="19506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One partner bank, MFB or mobile money operator and about 50 traders from one market association.</a:t>
            </a:r>
            <a:endParaRPr lang="en-US" sz="1400" dirty="0"/>
          </a:p>
        </p:txBody>
      </p:sp>
      <p:sp>
        <p:nvSpPr>
          <p:cNvPr id="14" name="card-142"/>
          <p:cNvSpPr/>
          <p:nvPr/>
        </p:nvSpPr>
        <p:spPr>
          <a:xfrm>
            <a:off x="6233008" y="2194560"/>
            <a:ext cx="2499284" cy="301752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</p:sp>
      <p:sp>
        <p:nvSpPr>
          <p:cNvPr id="15" name="tag-143"/>
          <p:cNvSpPr/>
          <p:nvPr/>
        </p:nvSpPr>
        <p:spPr>
          <a:xfrm>
            <a:off x="6507328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6" name="tagtxt-144"/>
          <p:cNvSpPr txBox="1"/>
          <p:nvPr/>
        </p:nvSpPr>
        <p:spPr>
          <a:xfrm>
            <a:off x="6507328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3–6 months</a:t>
            </a:r>
            <a:endParaRPr lang="en-US" sz="1100" dirty="0"/>
          </a:p>
        </p:txBody>
      </p:sp>
      <p:sp>
        <p:nvSpPr>
          <p:cNvPr id="17" name="cardtitle-145"/>
          <p:cNvSpPr txBox="1"/>
          <p:nvPr/>
        </p:nvSpPr>
        <p:spPr>
          <a:xfrm>
            <a:off x="6507328" y="297180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Harden</a:t>
            </a:r>
            <a:endParaRPr lang="en-US" sz="1800" dirty="0"/>
          </a:p>
        </p:txBody>
      </p:sp>
      <p:sp>
        <p:nvSpPr>
          <p:cNvPr id="18" name="cardbody-146"/>
          <p:cNvSpPr txBox="1"/>
          <p:nvPr/>
        </p:nvSpPr>
        <p:spPr>
          <a:xfrm>
            <a:off x="6507328" y="3429000"/>
            <a:ext cx="19506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Android SDK, phone sign-in, independent security audit, hardware-secured keys, CBN regulatory sandbox.</a:t>
            </a:r>
            <a:endParaRPr lang="en-US" sz="1400" dirty="0"/>
          </a:p>
        </p:txBody>
      </p:sp>
      <p:sp>
        <p:nvSpPr>
          <p:cNvPr id="19" name="card-147"/>
          <p:cNvSpPr/>
          <p:nvPr/>
        </p:nvSpPr>
        <p:spPr>
          <a:xfrm>
            <a:off x="9006611" y="2194560"/>
            <a:ext cx="2499284" cy="301752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</p:sp>
      <p:sp>
        <p:nvSpPr>
          <p:cNvPr id="20" name="tag-148"/>
          <p:cNvSpPr/>
          <p:nvPr/>
        </p:nvSpPr>
        <p:spPr>
          <a:xfrm>
            <a:off x="9280931" y="246888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1" name="tagtxt-149"/>
          <p:cNvSpPr txBox="1"/>
          <p:nvPr/>
        </p:nvSpPr>
        <p:spPr>
          <a:xfrm>
            <a:off x="9280931" y="2468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6+ months</a:t>
            </a:r>
            <a:endParaRPr lang="en-US" sz="1100" dirty="0"/>
          </a:p>
        </p:txBody>
      </p:sp>
      <p:sp>
        <p:nvSpPr>
          <p:cNvPr id="22" name="cardtitle-150"/>
          <p:cNvSpPr txBox="1"/>
          <p:nvPr/>
        </p:nvSpPr>
        <p:spPr>
          <a:xfrm>
            <a:off x="9280931" y="2971800"/>
            <a:ext cx="1950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</a:t>
            </a:r>
            <a:endParaRPr lang="en-US" sz="1800" dirty="0"/>
          </a:p>
        </p:txBody>
      </p:sp>
      <p:sp>
        <p:nvSpPr>
          <p:cNvPr id="23" name="cardbody-151"/>
          <p:cNvSpPr txBox="1"/>
          <p:nvPr/>
        </p:nvSpPr>
        <p:spPr>
          <a:xfrm>
            <a:off x="9280931" y="3429000"/>
            <a:ext cx="19506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More partners and markets via country packs; cross-border settlement through PAPSS.</a:t>
            </a:r>
            <a:endParaRPr lang="en-US" sz="1400" dirty="0"/>
          </a:p>
        </p:txBody>
      </p:sp>
      <p:sp>
        <p:nvSpPr>
          <p:cNvPr id="24" name="integration"/>
          <p:cNvSpPr txBox="1"/>
          <p:nvPr/>
        </p:nvSpPr>
        <p:spPr>
          <a:xfrm>
            <a:off x="685800" y="5349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 points: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partner core banking or wallet ledger (REST API + signed webhooks), KYC (NIN / BVN), SMS and USSD aggregator (Africa's Talking).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686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proven, open technology</a:t>
            </a:r>
            <a:endParaRPr lang="en-US" sz="3600" dirty="0"/>
          </a:p>
        </p:txBody>
      </p:sp>
      <p:sp>
        <p:nvSpPr>
          <p:cNvPr id="4" name="card-152"/>
          <p:cNvSpPr/>
          <p:nvPr/>
        </p:nvSpPr>
        <p:spPr>
          <a:xfrm>
            <a:off x="685800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cardtitle-153"/>
          <p:cNvSpPr txBox="1"/>
          <p:nvPr/>
        </p:nvSpPr>
        <p:spPr>
          <a:xfrm>
            <a:off x="960120" y="24231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800" dirty="0"/>
          </a:p>
        </p:txBody>
      </p:sp>
      <p:sp>
        <p:nvSpPr>
          <p:cNvPr id="6" name="cardbody-154"/>
          <p:cNvSpPr txBox="1"/>
          <p:nvPr/>
        </p:nvSpPr>
        <p:spPr>
          <a:xfrm>
            <a:off x="960120" y="28803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Next.js / React Progressive Web App, TypeScript, service workers and IndexedDB for offline use.</a:t>
            </a:r>
            <a:endParaRPr lang="en-US" sz="1400" dirty="0"/>
          </a:p>
        </p:txBody>
      </p:sp>
      <p:sp>
        <p:nvSpPr>
          <p:cNvPr id="7" name="card-155"/>
          <p:cNvSpPr/>
          <p:nvPr/>
        </p:nvSpPr>
        <p:spPr>
          <a:xfrm>
            <a:off x="4383938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cardtitle-156"/>
          <p:cNvSpPr txBox="1"/>
          <p:nvPr/>
        </p:nvSpPr>
        <p:spPr>
          <a:xfrm>
            <a:off x="4658258" y="24231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800" dirty="0"/>
          </a:p>
        </p:txBody>
      </p:sp>
      <p:sp>
        <p:nvSpPr>
          <p:cNvPr id="9" name="cardbody-157"/>
          <p:cNvSpPr txBox="1"/>
          <p:nvPr/>
        </p:nvSpPr>
        <p:spPr>
          <a:xfrm>
            <a:off x="4658258" y="28803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WebCrypto ECDSA P-256 signatures, non-extractable device keys, hash-chained payments, encrypted issuer keys.</a:t>
            </a:r>
            <a:endParaRPr lang="en-US" sz="1400" dirty="0"/>
          </a:p>
        </p:txBody>
      </p:sp>
      <p:sp>
        <p:nvSpPr>
          <p:cNvPr id="10" name="card-158"/>
          <p:cNvSpPr/>
          <p:nvPr/>
        </p:nvSpPr>
        <p:spPr>
          <a:xfrm>
            <a:off x="8082077" y="21488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cardtitle-159"/>
          <p:cNvSpPr txBox="1"/>
          <p:nvPr/>
        </p:nvSpPr>
        <p:spPr>
          <a:xfrm>
            <a:off x="8356397" y="24231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800" dirty="0"/>
          </a:p>
        </p:txBody>
      </p:sp>
      <p:sp>
        <p:nvSpPr>
          <p:cNvPr id="12" name="cardbody-160"/>
          <p:cNvSpPr txBox="1"/>
          <p:nvPr/>
        </p:nvSpPr>
        <p:spPr>
          <a:xfrm>
            <a:off x="8356397" y="28803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Compact signed payment protocol over QR codes; PostgreSQL double-entry ledger and reconciliation.</a:t>
            </a:r>
            <a:endParaRPr lang="en-US" sz="1400" dirty="0"/>
          </a:p>
        </p:txBody>
      </p:sp>
      <p:sp>
        <p:nvSpPr>
          <p:cNvPr id="13" name="card-161"/>
          <p:cNvSpPr/>
          <p:nvPr/>
        </p:nvSpPr>
        <p:spPr>
          <a:xfrm>
            <a:off x="685800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cardtitle-162"/>
          <p:cNvSpPr txBox="1"/>
          <p:nvPr/>
        </p:nvSpPr>
        <p:spPr>
          <a:xfrm>
            <a:off x="960120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800" dirty="0"/>
          </a:p>
        </p:txBody>
      </p:sp>
      <p:sp>
        <p:nvSpPr>
          <p:cNvPr id="15" name="cardbody-163"/>
          <p:cNvSpPr txBox="1"/>
          <p:nvPr/>
        </p:nvSpPr>
        <p:spPr>
          <a:xfrm>
            <a:off x="960120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Rules-based scoring on alternative data (trading days, sales, repayments); machine learning once pilot data exists.</a:t>
            </a:r>
            <a:endParaRPr lang="en-US" sz="1400" dirty="0"/>
          </a:p>
        </p:txBody>
      </p:sp>
      <p:sp>
        <p:nvSpPr>
          <p:cNvPr id="16" name="card-164"/>
          <p:cNvSpPr/>
          <p:nvPr/>
        </p:nvSpPr>
        <p:spPr>
          <a:xfrm>
            <a:off x="4383938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cardtitle-165"/>
          <p:cNvSpPr txBox="1"/>
          <p:nvPr/>
        </p:nvSpPr>
        <p:spPr>
          <a:xfrm>
            <a:off x="4658258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18" name="cardbody-166"/>
          <p:cNvSpPr txBox="1"/>
          <p:nvPr/>
        </p:nvSpPr>
        <p:spPr>
          <a:xfrm>
            <a:off x="4658258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REST APIs, HMAC-signed webhooks, Africa's Talking USSD and SMS.</a:t>
            </a:r>
            <a:endParaRPr lang="en-US" sz="1400" dirty="0"/>
          </a:p>
        </p:txBody>
      </p:sp>
      <p:sp>
        <p:nvSpPr>
          <p:cNvPr id="19" name="card-167"/>
          <p:cNvSpPr/>
          <p:nvPr/>
        </p:nvSpPr>
        <p:spPr>
          <a:xfrm>
            <a:off x="8082077" y="4206240"/>
            <a:ext cx="34238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cardtitle-168"/>
          <p:cNvSpPr txBox="1"/>
          <p:nvPr/>
        </p:nvSpPr>
        <p:spPr>
          <a:xfrm>
            <a:off x="8356397" y="4480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800" dirty="0"/>
          </a:p>
        </p:txBody>
      </p:sp>
      <p:sp>
        <p:nvSpPr>
          <p:cNvPr id="21" name="cardbody-169"/>
          <p:cNvSpPr txBox="1"/>
          <p:nvPr/>
        </p:nvSpPr>
        <p:spPr>
          <a:xfrm>
            <a:off x="8356397" y="493776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Docker, hosted in Lagos (RumptyCloud), with Vercel for the web front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7278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e-photo" descr="/home/user/Pulse/public/photos/ag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close-kicker"/>
          <p:cNvSpPr txBox="1"/>
          <p:nvPr/>
        </p:nvSpPr>
        <p:spPr>
          <a:xfrm>
            <a:off x="685800" y="731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TRY IT TODAY</a:t>
            </a:r>
            <a:endParaRPr lang="en-US" sz="1300" dirty="0"/>
          </a:p>
        </p:txBody>
      </p:sp>
      <p:sp>
        <p:nvSpPr>
          <p:cNvPr id="4" name="close-headline"/>
          <p:cNvSpPr txBox="1"/>
          <p:nvPr/>
        </p:nvSpPr>
        <p:spPr>
          <a:xfrm>
            <a:off x="685800" y="11887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trading day becomes </a:t>
            </a:r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history.</a:t>
            </a:r>
            <a:endParaRPr lang="en-US" sz="4400" dirty="0"/>
          </a:p>
        </p:txBody>
      </p:sp>
      <p:sp>
        <p:nvSpPr>
          <p:cNvPr id="5" name="close-ask"/>
          <p:cNvSpPr txBox="1"/>
          <p:nvPr/>
        </p:nvSpPr>
        <p:spPr>
          <a:xfrm>
            <a:off x="685800" y="3383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We're looking for a partner bank or mobile money operator and a market association to run the first pilot.</a:t>
            </a:r>
            <a:endParaRPr lang="en-US" sz="1800" dirty="0"/>
          </a:p>
        </p:txBody>
      </p:sp>
      <p:sp>
        <p:nvSpPr>
          <p:cNvPr id="6" name="close-demo"/>
          <p:cNvSpPr txBox="1"/>
          <p:nvPr/>
        </p:nvSpPr>
        <p:spPr>
          <a:xfrm>
            <a:off x="685800" y="4754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Live demo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payvault.rumptycloud.app</a:t>
            </a:r>
            <a:endParaRPr lang="en-US" sz="1700" dirty="0"/>
          </a:p>
        </p:txBody>
      </p:sp>
      <p:sp>
        <p:nvSpPr>
          <p:cNvPr id="7" name="close-note"/>
          <p:cNvSpPr txBox="1"/>
          <p:nvPr/>
        </p:nvSpPr>
        <p:spPr>
          <a:xfrm>
            <a:off x="685800" y="5166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Demo uses test money only. Country limits are illustrative until agreed with partners and regulators.</a:t>
            </a:r>
            <a:endParaRPr lang="en-US" sz="1100" dirty="0"/>
          </a:p>
        </p:txBody>
      </p:sp>
      <p:pic>
        <p:nvPicPr>
          <p:cNvPr id="8" name="close-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35040"/>
            <a:ext cx="365760" cy="384048"/>
          </a:xfrm>
          <a:prstGeom prst="rect">
            <a:avLst/>
          </a:prstGeom>
        </p:spPr>
      </p:pic>
      <p:sp>
        <p:nvSpPr>
          <p:cNvPr id="9" name="close-wordmark"/>
          <p:cNvSpPr txBox="1"/>
          <p:nvPr/>
        </p:nvSpPr>
        <p:spPr>
          <a:xfrm>
            <a:off x="1161288" y="6053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Vault">
  <a:themeElements>
    <a:clrScheme name="PayVault">
      <a:dk1>
        <a:srgbClr val="10161D"/>
      </a:dk1>
      <a:lt1>
        <a:srgbClr val="FFFFFF"/>
      </a:lt1>
      <a:dk2>
        <a:srgbClr val="14365A"/>
      </a:dk2>
      <a:lt2>
        <a:srgbClr val="F4F6F8"/>
      </a:lt2>
      <a:accent1>
        <a:srgbClr val="046B4F"/>
      </a:accent1>
      <a:accent2>
        <a:srgbClr val="2FB386"/>
      </a:accent2>
      <a:accent3>
        <a:srgbClr val="0B1F36"/>
      </a:accent3>
      <a:accent4>
        <a:srgbClr val="E3F1EC"/>
      </a:accent4>
      <a:accent5>
        <a:srgbClr val="5B6672"/>
      </a:accent5>
      <a:accent6>
        <a:srgbClr val="C4D3E3"/>
      </a:accent6>
      <a:hlink>
        <a:srgbClr val="046B4F"/>
      </a:hlink>
      <a:folHlink>
        <a:srgbClr val="14365A"/>
      </a:folHlink>
    </a:clrScheme>
    <a:fontScheme name="PayVaul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PayVault: No signal. Still paid.</dc:title>
  <dc:subject>PptxGenJS Presentation</dc:subject>
  <dc:creator>PayVault</dc:creator>
  <cp:lastModifiedBy>PayVault</cp:lastModifiedBy>
  <cp:revision>1</cp:revision>
  <dcterms:created xsi:type="dcterms:W3CDTF">2026-10-13T00:32:15Z</dcterms:created>
  <dcterms:modified xsi:type="dcterms:W3CDTF">2026-10-13T00:32:15Z</dcterms:modified>
</cp:coreProperties>
</file>